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1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212E"/>
                </a:solidFill>
                <a:latin typeface="Arial"/>
              </a:rPr>
              <a:t>מסלולים שנמצאו, לפי סף התמיכה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כל המסלולים</c:v>
                </c:pt>
              </c:strCache>
            </c:strRef>
          </c:tx>
          <c:spPr>
            <a:solidFill>
              <a:srgbClr val="1C4E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A6B8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0.002%</c:v>
                  </c:pt>
                  <c:pt idx="1">
                    <c:v>0.05%</c:v>
                  </c:pt>
                  <c:pt idx="2">
                    <c:v>0.1%</c:v>
                  </c:pt>
                  <c:pt idx="3">
                    <c:v>0.2%</c:v>
                  </c:pt>
                  <c:pt idx="4">
                    <c:v>0.3%</c:v>
                  </c:pt>
                  <c:pt idx="5">
                    <c:v>0.5%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1380</c:v>
                </c:pt>
                <c:pt idx="1">
                  <c:v>304</c:v>
                </c:pt>
                <c:pt idx="2">
                  <c:v>106</c:v>
                </c:pt>
                <c:pt idx="3">
                  <c:v>25</c:v>
                </c:pt>
                <c:pt idx="4">
                  <c:v>9</c:v>
                </c:pt>
                <c:pt idx="5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מעל 10 ק"מ</c:v>
                </c:pt>
              </c:strCache>
            </c:strRef>
          </c:tx>
          <c:spPr>
            <a:solidFill>
              <a:srgbClr val="F4A8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A6B8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0.002%</c:v>
                  </c:pt>
                  <c:pt idx="1">
                    <c:v>0.05%</c:v>
                  </c:pt>
                  <c:pt idx="2">
                    <c:v>0.1%</c:v>
                  </c:pt>
                  <c:pt idx="3">
                    <c:v>0.2%</c:v>
                  </c:pt>
                  <c:pt idx="4">
                    <c:v>0.3%</c:v>
                  </c:pt>
                  <c:pt idx="5">
                    <c:v>0.5%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339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A6B8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F1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פרויקט סיום. הדאטהסט: 442 מוניות בפורטו לאורך שנה, דגימת GPS כל 15 שניות.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ארבע השאלות מהבריף. שלוש הראשונות הן תוצרים, הרביעית היא הדרך.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אשכול אחד לשלושת השלבים: הקמה עולה ~90 שניות של זמן מחויב, אז לא מקימים שלושה.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כל כלל מגדיל מונה משלו, כך שהדוח נגזר מהריצה ולא נטען לצידה.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שלוש הרזולוציות מקודדות מהקואורדינטות ולא נגזרות זו מזו: ההיררכיה של H3 מקורבת, כי משושים לא מתחלקים למשושים.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הטעות של שני המבנים חד-צדדית: הם עלולים להשאיר משהו נדיר, לא לזרוק משהו נפוץ. לכן מותר לשים אותם לפני אלגוריתם מדויק.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הדרישה היא שיטת clustering, שיטת suffix array, ושיטה שלישית שאינה אף אחת מהן.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בלי שומרי הגאומטריה, שרשור שברים נפוצים מייצר לולאות שנראות כמו מסלולים באורך 60 קילומטר.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 נבחר לכל סף בנפרד: הגבוה ביותר שעדיין מניב 100 מסלולים. אם אף ערך לא מגיע, מדווחים כמה נמצאו ובאיזה 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שלוש ריצות אשכול: 0.05%, 0.01%, 0.002%. הטבלה הזו היא הפשרה שהבריף מבקש להתנסות בה.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מעל 40 ק"מ לא קיים אפילו קטע משותף אחד. פורטו היא 25 על 22 קילומטר.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אשכול אחד לשלושת השלבים, נמחק אוטומטית בסוף גם אם הריצה נכשלת באמצע, עם max-idle כרשת ביטחון.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הבריף מבקש לתעד את הניסויים שביצענו. אלה הם — כל אחד עם תוצאה מספרית.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spc="200" kern="0" dirty="0">
                <a:solidFill>
                  <a:srgbClr val="F4A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מיחשוב ענן רב נתונים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כריית תת-מסלולים פופולריים</a:t>
            </a:r>
            <a:endParaRPr lang="en-US" sz="4000" dirty="0"/>
          </a:p>
          <a:p>
            <a:pPr rtl="1" algn="r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מ-1.71 מיליון נסיעות מוניות בפורטו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 על Google Cloud Dataproc  ·  אשכול של 6 מכונות  ·  שלוש שיטות כרייה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63440"/>
            <a:ext cx="2537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4A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1,710,670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193792"/>
            <a:ext cx="25374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נסיעות גולמיות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314700" y="4663440"/>
            <a:ext cx="2537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4A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1,616,575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314700" y="5193792"/>
            <a:ext cx="25374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נסיעות אחרי ניקוי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4663440"/>
            <a:ext cx="2537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4A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23,354,267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5193792"/>
            <a:ext cx="25374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שברי מסלול שנסרקו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846820" y="4663440"/>
            <a:ext cx="2537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4A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1,380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846820" y="5193792"/>
            <a:ext cx="25374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מסלולים שנמצאו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4A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הבעיה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בעצם צריך למצוא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תת-מסלול פופולרי הוא לא נסיעה שלמה ולא צומת עמוס. הוא קטע רצוף שהרבה נסיעות עברו בו — ומותר שיהיו בו חורים, כשהתנועה מתפצלת לשתי דרכים חלופיות ומתאחדת בהמשך.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045952" y="2697480"/>
            <a:ext cx="566928" cy="566928"/>
          </a:xfrm>
          <a:prstGeom prst="ellipse">
            <a:avLst/>
          </a:prstGeom>
          <a:solidFill>
            <a:srgbClr val="F4A81D"/>
          </a:solidFill>
          <a:ln w="12700">
            <a:solidFill>
              <a:srgbClr val="F4A81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045952" y="28072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0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16352"/>
            <a:ext cx="1019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מהם המסלולים הפופולריים ביותר בעיר?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1045952" y="3538728"/>
            <a:ext cx="566928" cy="566928"/>
          </a:xfrm>
          <a:prstGeom prst="ellipse">
            <a:avLst/>
          </a:prstGeom>
          <a:solidFill>
            <a:srgbClr val="F4A81D"/>
          </a:solidFill>
          <a:ln w="12700">
            <a:solidFill>
              <a:srgbClr val="F4A81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045952" y="364845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0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57600"/>
            <a:ext cx="1019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אילו אזורים הם מוקדי פעילות?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1045952" y="4379976"/>
            <a:ext cx="566928" cy="566928"/>
          </a:xfrm>
          <a:prstGeom prst="ellipse">
            <a:avLst/>
          </a:prstGeom>
          <a:solidFill>
            <a:srgbClr val="F4A81D"/>
          </a:solidFill>
          <a:ln w="12700">
            <a:solidFill>
              <a:srgbClr val="F4A81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045952" y="448970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0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98848"/>
            <a:ext cx="1019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כיצד ניתן לזהות מסלולים חריגים?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1045952" y="5221224"/>
            <a:ext cx="566928" cy="566928"/>
          </a:xfrm>
          <a:prstGeom prst="ellipse">
            <a:avLst/>
          </a:prstGeom>
          <a:solidFill>
            <a:srgbClr val="F4A81D"/>
          </a:solidFill>
          <a:ln w="12700">
            <a:solidFill>
              <a:srgbClr val="F4A81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045952" y="533095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0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40096"/>
            <a:ext cx="1019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כיצד עושים את זה ביעילות עם אלגוריתמים מקורבים?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4A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הפייפליין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שלבים, כולם על האשכול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68640" y="2057400"/>
            <a:ext cx="3444240" cy="2880360"/>
          </a:xfrm>
          <a:prstGeom prst="roundRect">
            <a:avLst>
              <a:gd name="adj" fmla="val 3175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97240" y="2331720"/>
            <a:ext cx="298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4A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397240" y="2670048"/>
            <a:ext cx="298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ניקוי וחילוץ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397240" y="3291840"/>
            <a:ext cx="298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1,710,670 ← 1,616,575</a:t>
            </a:r>
            <a:endParaRPr lang="en-US" sz="1400" dirty="0"/>
          </a:p>
          <a:p>
            <a:pPr rtl="1"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כללי איכות, כל אחד נספר בנפרד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58640" y="2057400"/>
            <a:ext cx="3444240" cy="2880360"/>
          </a:xfrm>
          <a:prstGeom prst="roundRect">
            <a:avLst>
              <a:gd name="adj" fmla="val 3175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7240" y="2331720"/>
            <a:ext cx="298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4A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87240" y="2670048"/>
            <a:ext cx="298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קידוד H3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587240" y="3291840"/>
            <a:ext cx="298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20,592 תאים ייחודיים</a:t>
            </a:r>
            <a:endParaRPr lang="en-US" sz="1400" dirty="0"/>
          </a:p>
          <a:p>
            <a:pPr rtl="1"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רזולוציות 8 / 9 / 10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057400"/>
            <a:ext cx="3444240" cy="2880360"/>
          </a:xfrm>
          <a:prstGeom prst="roundRect">
            <a:avLst>
              <a:gd name="adj" fmla="val 3175"/>
            </a:avLst>
          </a:prstGeom>
          <a:solidFill>
            <a:srgbClr val="10243F"/>
          </a:solidFill>
          <a:ln w="12700">
            <a:solidFill>
              <a:srgbClr val="1024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31720"/>
            <a:ext cx="298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4A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670048"/>
            <a:ext cx="298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כריית מסלולים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291840"/>
            <a:ext cx="298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1,380 מסלולים</a:t>
            </a:r>
            <a:endParaRPr lang="en-US" sz="1400" dirty="0"/>
          </a:p>
          <a:p>
            <a:pPr rtl="1"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 שיטות + מעבר אימות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 ריצה מלא על האשכול: 80 דקות  ·  1 master + 5 workers  ·  כל שלב כותב ל-gs:// ושורד את מחיקת האשכול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4A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ניקוי שאפשר להגן עליו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675120" cy="914400"/>
        </p:xfrm>
        <a:graphic>
          <a:graphicData uri="http://schemas.openxmlformats.org/drawingml/2006/table">
            <a:tbl>
              <a:tblPr/>
              <a:tblGrid>
                <a:gridCol w="3337560"/>
                <a:gridCol w="3337560"/>
              </a:tblGrid>
              <a:tr h="5120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כלל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נסיעות שהוסרו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קפיצה שמשמעה מעל 200 קמ"ש — שגיאת לוויין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4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38,092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פחות משתי נקודות GPS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4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30,607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קצר מ-0.2 ק"מ — לא נסיעה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4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18,310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POLYLINE ריק — הזמנה שבוטלה מיד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4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5,901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ארוך מ-100 ק"מ — לא סביר בעיר הזו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4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783080"/>
            <a:ext cx="2011680" cy="1417320"/>
          </a:xfrm>
          <a:prstGeom prst="roundRect">
            <a:avLst>
              <a:gd name="adj" fmla="val 580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71232" y="1929384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C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7571232" y="258775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מהנסיעות הוסרו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555480" y="1783080"/>
            <a:ext cx="2057400" cy="1417320"/>
          </a:xfrm>
          <a:prstGeom prst="roundRect">
            <a:avLst>
              <a:gd name="adj" fmla="val 580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720072" y="1929384"/>
            <a:ext cx="1728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C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440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9720072" y="2587752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מוניות ייחודיות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566160"/>
            <a:ext cx="4206240" cy="2148840"/>
          </a:xfrm>
          <a:prstGeom prst="roundRect">
            <a:avLst>
              <a:gd name="adj" fmla="val 3830"/>
            </a:avLst>
          </a:prstGeom>
          <a:solidFill>
            <a:srgbClr val="10243F"/>
          </a:solidFill>
          <a:ln w="12700">
            <a:solidFill>
              <a:srgbClr val="10243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37673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4A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הבאג ששווה להכיר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41148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משך הנסיעה מחושב מספירת הדגימות המקורית. גזירה שלו אחרי הסרת כפילויות מוחקת את הזמן שהמונית עמדה ברמזור — ומנפחת את המהירות מ-25.6 ל-40.2 קמ"ש.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חציון מרחק הנסיעה: 4.0 ק"מ   ·   אחוזון 99: 22.5 ק"מ   ·   תיבת הגבול נבדקת על כל נקודה, לא רק על הקצוות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4A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משושים, ולמה רזולוציה 9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828800"/>
                <a:gridCol w="6675120"/>
              </a:tblGrid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רזולוציה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צלע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תאים ייחודיים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הבעיה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461 מ'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5,560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גס מדי — שני רחובות מקבילים מתמזגים לתא אחד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4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4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 מ'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4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20,592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C4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תא ≈ קטע רחוב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 מ'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63,872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עדין מדי — נתיב שונה נופל בתא שונה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526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במשושה כל שכן נמצא באותו מרחק. ברשת ריבועית צעד באלכסון ארוך פי 1.41 מצעד ישר, וזה מטה את הכרייה לטובת כבישים בכיווני הצירים.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99.5% מהמעברים בין תאים עוקבים הם למשושה שכן. 0.5% מדלגים על תא — זה מה שנראה נסיעה מהירה בקצב דגימה של 15 שניות.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4A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השער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איפה המבנים המקורבים באמת חוסכים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נסיעה מתפרקת לשברים באורך 4 תאים. לשלוח את כולם ברשת כדי לגלות מי נפוץ הוא הדבר היקר ביותר שהפייפליין יכול לעשות.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046720" y="246888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10243F"/>
          </a:solidFill>
          <a:ln w="12700">
            <a:solidFill>
              <a:srgbClr val="1024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11312" y="2615184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F4A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99.87%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11312" y="3273552"/>
            <a:ext cx="3236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C9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מהשברים נגזמו לפני ששום דבר עבר ברשת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146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Count-Min Sketch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072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x 838860  ·  32 MB לכל partition, ללא תלות בכמות הנתונים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661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treeAggregate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85876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סקיצות ממוזגות בזוגות במעלה עץ — הדרייבר מקבל אחת, לא אחת לכל partition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177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C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Filter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91032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34.2 KB בשידור לכל executor, 1.01% טעות חיובית, אפס טעות שלילית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23,354,267 שברים נסרקו  →  29,234 עברו את הסקיצה  →  נספרו במדויק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4A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 שיטות, שלושה אופיים שונים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1554480"/>
                <a:gridCol w="1554480"/>
                <a:gridCol w="1280160"/>
                <a:gridCol w="2103120"/>
              </a:tblGrid>
              <a:tr h="7132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שיטה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מסלולים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ארוך ביותר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אורך ממוצע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זמן ריצה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סטיית support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א׳ · MinHash + LSH (אשכול)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1,320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5.42 ק"מ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4.15 ק"מ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דק'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172.68%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ב׳ · Suffix Array + LCP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1,333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13.51 ק"מ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10.46 ק"מ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דק'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B7F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ג׳ · גידול שכבתי מאומת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18.48 ק"מ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7.94 ק"מ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 דק'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B7F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שיטה א׳ מאחדת נסיעות דומות אך לא זהות — שתי גרסאות של אותו עורק. חלון של 12 תאים חוסם אותה מבנית סביב 5 ק"מ.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שיטה ב׳ מוצאת חזרות מדויקות ארוכות. שיטה ג׳ היחידה שמייצרת מסלולים עם חורים, והיא שהגיעה לארוך ביותר.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4A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מעבר האימות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כל מועמד נספר מחדש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אף שיטה לא נסמכת על ההערכה של עצמה. 2,782 מועמדים נמדדו מחדש מול 100% מהנסיעות — 24.41 שניות.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64240" cy="1920240"/>
          </a:xfrm>
          <a:prstGeom prst="roundRect">
            <a:avLst>
              <a:gd name="adj" fmla="val 4762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0" y="2606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172.68%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869680" y="3611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8C2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הפרזה של שיטת ה-LSH ב-support שלה עצמה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5176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ה-LSH סופר נסיעות בדליים באמצעות HyperLogLog, וזו הערכה. הוא דיווח שמסלולים פופולריים פי 2.7 ממה שהם. שתי השיטות המדויקות: 0.0%.</a:t>
            </a:r>
            <a:endParaRPr lang="en-US" sz="1400" dirty="0"/>
          </a:p>
          <a:p>
            <a:pPr rtl="1" algn="r" indent="0" marL="0">
              <a:lnSpc>
                <a:spcPts val="2000"/>
              </a:lnSpc>
              <a:buNone/>
            </a:pPr>
            <a:endParaRPr lang="en-US" sz="1400" dirty="0"/>
          </a:p>
          <a:p>
            <a:pPr rtl="1" algn="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אילו היינו מפרסמים את מה שהשיטות מדדו תוך כדי כרייה, כל מספר בדוח היה שגוי — ושום דבר בהמשך לא היה מגלה את זה.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68640" y="4892040"/>
            <a:ext cx="344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C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מסלול פשוט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168640" y="5230368"/>
            <a:ext cx="344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תא לא מופיע פעמיים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358640" y="4892040"/>
            <a:ext cx="344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C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tortuosity ≤ 2.5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358640" y="5230368"/>
            <a:ext cx="344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אורך חלקי מרחק אווירי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892040"/>
            <a:ext cx="344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C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ספירה מדויקת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230368"/>
            <a:ext cx="344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מול כל 1.6M הנסיעות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4A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התוצאות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תת-מסלולים בכל קונפיגורציה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377440"/>
                <a:gridCol w="3383280"/>
              </a:tblGrid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סף אורך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מסלולים שנמצאו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 שנבחר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עומד ביעד 100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1 ק"מ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7F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כן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3 ק"מ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7F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כן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5 ק"מ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7F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כן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10 ק"מ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7F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כן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20 ק"מ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C6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לא קיים בפורטו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21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40 ק"מ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C6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לא קיים בפורטו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ארבעה מששת הספים עומדים ביעד. ב-1 ו-3 ק"מ האלגוריתם בחר דווקא סף מחמיר יותר, כי הוא כבר נותן שם יותר מ-100 — הוא לוקח את ה-X הגבוה ביותר שעדיין מספק את הדרישה.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4A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ניסוי ה-X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פופולריות עולה קילומטר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06640" y="18288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ככל שהסף יורד, נמצאים יותר מסלולים וארוכים יותר — אבל "פופולרי" נחלש.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406640" y="2788920"/>
            <a:ext cx="2011680" cy="1417320"/>
          </a:xfrm>
          <a:prstGeom prst="roundRect">
            <a:avLst>
              <a:gd name="adj" fmla="val 580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71232" y="2935224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C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7571232" y="359359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נסיעות ביום — מעבר לזה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בפורטו אף מסלול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555480" y="2788920"/>
            <a:ext cx="2057400" cy="1417320"/>
          </a:xfrm>
          <a:prstGeom prst="roundRect">
            <a:avLst>
              <a:gd name="adj" fmla="val 580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720072" y="2935224"/>
            <a:ext cx="1728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C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440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9720072" y="3593592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מוניות בלבד בדאטהסט,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מתוך עיר שלמה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406640" y="452628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מודד תדירות בתוך הדגימה שלנו, לא בתוך התנועה בפורטו. אנחנו רואים 440 מוניות, לא מכוניות פרטיות ולא אוטובוסים — ולכן סף נמוך אינו רעש בהכרח.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4A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סף 20 ק"מ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קיימים — אבל לא פופולריים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נסיעה יכולה לעבור מסלול באורך 20 ק"מ רק אם היא עצמה באורך 20 ק"מ. לכן ה-support של מסלול כזה מתוך 1.6 מיליון נסיעות שווה בדיוק ל-support שלו מתוך הנסיעות הארוכות — השאר תורמות אפס בהגדרה, לא בקירוב.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25,223 נסיעות כאלה קטן מספיק לבדיקה ממצה — הכל מול הכל, בסף של שתי נסיעות. זו הרצפה: אין "משותף" מתחת לשניים. והתשובה שונה בין שני הספים.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052560" y="3703320"/>
            <a:ext cx="2560320" cy="1691640"/>
          </a:xfrm>
          <a:prstGeom prst="roundRect">
            <a:avLst>
              <a:gd name="adj" fmla="val 4865"/>
            </a:avLst>
          </a:prstGeom>
          <a:solidFill>
            <a:srgbClr val="1B3557"/>
          </a:solidFill>
          <a:ln w="12700">
            <a:solidFill>
              <a:srgbClr val="1B35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8972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C9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26.93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9189720" y="45720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ק"מ — הקטע המשותף הארוך ביותר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3703320"/>
            <a:ext cx="2560320" cy="1691640"/>
          </a:xfrm>
          <a:prstGeom prst="roundRect">
            <a:avLst>
              <a:gd name="adj" fmla="val 4865"/>
            </a:avLst>
          </a:prstGeom>
          <a:solidFill>
            <a:srgbClr val="1B3557"/>
          </a:solidFill>
          <a:ln w="12700">
            <a:solidFill>
              <a:srgbClr val="1B35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C9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45720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מסלולים תקינים מעל 20 ק"מ — קיימים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83280" y="3703320"/>
            <a:ext cx="2560320" cy="1691640"/>
          </a:xfrm>
          <a:prstGeom prst="roundRect">
            <a:avLst>
              <a:gd name="adj" fmla="val 4865"/>
            </a:avLst>
          </a:prstGeom>
          <a:solidFill>
            <a:srgbClr val="1B3557"/>
          </a:solidFill>
          <a:ln w="12700">
            <a:solidFill>
              <a:srgbClr val="1B355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4A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45720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נסיעות תומכות בטוב שבהם — הרצפה 33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2560320" cy="1691640"/>
          </a:xfrm>
          <a:prstGeom prst="roundRect">
            <a:avLst>
              <a:gd name="adj" fmla="val 4865"/>
            </a:avLst>
          </a:prstGeom>
          <a:solidFill>
            <a:srgbClr val="1B3557"/>
          </a:solidFill>
          <a:ln w="12700">
            <a:solidFill>
              <a:srgbClr val="1B355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4A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5720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מועמדים מעל 40 ק"מ, בכל סף שהוא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108 המועמדים הם לולאות — tortuosity של 2.99 עד אינסוף. מונית שנסעה במעגלים צוברת 26 ק"מ בלי להתקדם. הסף ריק כי אין שם מסלול, בשום ערך של X.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4A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יעילות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ביצועים, משאבים ותקציב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052560" y="1874520"/>
            <a:ext cx="2560320" cy="1600200"/>
          </a:xfrm>
          <a:prstGeom prst="roundRect">
            <a:avLst>
              <a:gd name="adj" fmla="val 5143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17152" y="2020824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700" b="1" dirty="0">
                <a:solidFill>
                  <a:srgbClr val="1C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9217152" y="2679192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דקות — ריצת שלב 3 המלאה על 6 מכונות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2560320" cy="1600200"/>
          </a:xfrm>
          <a:prstGeom prst="roundRect">
            <a:avLst>
              <a:gd name="adj" fmla="val 5143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82512" y="2020824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700" b="1" dirty="0">
                <a:solidFill>
                  <a:srgbClr val="1C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6382512" y="2679192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מגה-בייט לסקיצה בכל partition,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ללא תלות בגודל הקלט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874520"/>
            <a:ext cx="2560320" cy="1600200"/>
          </a:xfrm>
          <a:prstGeom prst="roundRect">
            <a:avLst>
              <a:gd name="adj" fmla="val 5143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47872" y="2020824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700" b="1" dirty="0">
                <a:solidFill>
                  <a:srgbClr val="1C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34.2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2679192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קילו-בייט לפילטר הבלום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ששודר לכל executor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874520"/>
            <a:ext cx="2560320" cy="1600200"/>
          </a:xfrm>
          <a:prstGeom prst="roundRect">
            <a:avLst>
              <a:gd name="adj" fmla="val 5143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020824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700" b="1" dirty="0">
                <a:solidFill>
                  <a:srgbClr val="1C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2679192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דולר מתוך תקציב של 50,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עבור שלוש ריצות אשכול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886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מספר הפעולות החישוביות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43434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שברים שנסרקו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3434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300" b="1" dirty="0">
                <a:solidFill>
                  <a:srgbClr val="1C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23,354,267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47823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חלונות ש-MinHash עיבד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7823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300" b="1" dirty="0">
                <a:solidFill>
                  <a:srgbClr val="1C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4,496,659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522122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פליטות band ל-LSH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2212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300" b="1" dirty="0">
                <a:solidFill>
                  <a:srgbClr val="1C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35,973,272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566013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מיקומי סיומת שנשקלו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6601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300" b="1" dirty="0">
                <a:solidFill>
                  <a:srgbClr val="1C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21,805,095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60990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הרחבות שאומתו בגידול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099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300" b="1" dirty="0">
                <a:solidFill>
                  <a:srgbClr val="1C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176,678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4A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אימות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אנחנו יודעים שזה נכון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רכיב הושווה מול מימוש עצמאי, לא נבדק בעין.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64240" cy="694944"/>
          </a:xfrm>
          <a:prstGeom prst="roundRect">
            <a:avLst>
              <a:gd name="adj" fmla="val 921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235440" y="24140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C4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verify_stage1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241401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שכל נסיעה בו מפעילה כלל אחד בדיוק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1401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1B7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מתוך 10 כללים ירו פעם אחת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99232"/>
            <a:ext cx="1106424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235440" y="32186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C4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verify_stage2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321868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הרצף נבנה מחדש מהקואורדינטות ומושווה תא-תא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2186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1B7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התאמה מלאה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03904"/>
            <a:ext cx="11064240" cy="694944"/>
          </a:xfrm>
          <a:prstGeom prst="roundRect">
            <a:avLst>
              <a:gd name="adj" fmla="val 921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0" y="40233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C4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verify_gate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40233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הקבוצה הנפוצה מחושבת פעמיים — עם שער ובלעדיו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0233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1B7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אפס מסלולים אבדו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608576"/>
            <a:ext cx="1106424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35440" y="4828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C4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verify_methods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482803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עקומת ה-S של LSH מול הנוסחה; קיצור הדרך של השרשור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8280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1B7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פער 0.027; השרשור מפריז פי 12.7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413248"/>
            <a:ext cx="11064240" cy="694944"/>
          </a:xfrm>
          <a:prstGeom prst="roundRect">
            <a:avLst>
              <a:gd name="adj" fmla="val 921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35440" y="56327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C4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verify_corridors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840480" y="563270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6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trip_supports מול מימוש ממצה איטי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6327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1B7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תפס באג אמיתי: 1 מכל 60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4A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למדנו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1155680" y="1463040"/>
            <a:ext cx="457200" cy="457200"/>
          </a:xfrm>
          <a:prstGeom prst="ellipse">
            <a:avLst/>
          </a:prstGeom>
          <a:solidFill>
            <a:srgbClr val="F4A81D"/>
          </a:solidFill>
          <a:ln w="12700">
            <a:solidFill>
              <a:srgbClr val="F4A81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155680" y="15453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0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המבנים המקורבים הם מה שהופך את זה לאפשרי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99.87% מהעבודה נחסכת לפני שדבר עובר ברשת, והטעות חד-צדדית — היא עולה זמן, לא נכונות.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155680" y="3063240"/>
            <a:ext cx="457200" cy="457200"/>
          </a:xfrm>
          <a:prstGeom prst="ellipse">
            <a:avLst/>
          </a:prstGeom>
          <a:solidFill>
            <a:srgbClr val="F4A81D"/>
          </a:solidFill>
          <a:ln w="12700">
            <a:solidFill>
              <a:srgbClr val="F4A81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155680" y="31455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0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0175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הערכה בלי אימות היא מספר שגוי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747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שיטת ה-LSH הפריזה ב-172.68%. בלי מעבר אימות זה היה מגיע לדוח.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155680" y="4663440"/>
            <a:ext cx="457200" cy="457200"/>
          </a:xfrm>
          <a:prstGeom prst="ellipse">
            <a:avLst/>
          </a:prstGeom>
          <a:solidFill>
            <a:srgbClr val="F4A81D"/>
          </a:solidFill>
          <a:ln w="12700">
            <a:solidFill>
              <a:srgbClr val="F4A81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0" y="47457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0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6177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רשימה קצרה יכולה להיות התוצאה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0749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סף 20 ק"מ ריק כי המסלול הארוך ביותר בפורטו הוא 19.91 ק"מ — הוכחנו זאת ממצה, לא הסקנו.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C7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נוצר אוטומטית מקבצי התוצאות  ·  2026-08-30  ·  כל מספר במצגת נקרא מהריצה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כריית תת-מסלולים פופולריים בפורטו</dc:title>
  <dc:subject>PptxGenJS Presentation</dc:subject>
  <dc:creator>Porto Taxi Project</dc:creator>
  <cp:lastModifiedBy>Porto Taxi Project</cp:lastModifiedBy>
  <cp:revision>1</cp:revision>
  <dcterms:created xsi:type="dcterms:W3CDTF">2026-08-30T14:35:06Z</dcterms:created>
  <dcterms:modified xsi:type="dcterms:W3CDTF">2026-08-30T14:35:06Z</dcterms:modified>
</cp:coreProperties>
</file>