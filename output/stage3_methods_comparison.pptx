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LSH S-curve: 8 bands × 4 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P(share a bucket)</c:v>
                </c:pt>
              </c:strCache>
            </c:strRef>
          </c:tx>
          <c:spPr>
            <a:solidFill>
              <a:srgbClr val="2E7D96"/>
            </a:solidFill>
            <a:ln w="38100" cap="flat">
              <a:solidFill>
                <a:srgbClr val="2E7D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96"/>
              </a:solidFill>
              <a:ln w="9525" cap="flat">
                <a:solidFill>
                  <a:srgbClr val="2E7D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0.2</c:v>
                  </c:pt>
                  <c:pt idx="1">
                    <c:v>0.3</c:v>
                  </c:pt>
                  <c:pt idx="2">
                    <c:v>0.4</c:v>
                  </c:pt>
                  <c:pt idx="3">
                    <c:v>0.5</c:v>
                  </c:pt>
                  <c:pt idx="4">
                    <c:v>0.6</c:v>
                  </c:pt>
                  <c:pt idx="5">
                    <c:v>0.7</c:v>
                  </c:pt>
                  <c:pt idx="6">
                    <c:v>0.8</c:v>
                  </c:pt>
                  <c:pt idx="7">
                    <c:v>0.9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6</c:v>
                </c:pt>
                <c:pt idx="2">
                  <c:v>19</c:v>
                </c:pt>
                <c:pt idx="3">
                  <c:v>40</c:v>
                </c:pt>
                <c:pt idx="4">
                  <c:v>67</c:v>
                </c:pt>
                <c:pt idx="5">
                  <c:v>89</c:v>
                </c:pt>
                <c:pt idx="6">
                  <c:v>99</c:v>
                </c:pt>
                <c:pt idx="7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375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3757F"/>
                    </a:solidFill>
                    <a:latin typeface="Arial"/>
                  </a:rPr>
                  <a:t>Jaccard similarity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Support overstated before verification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 overstated (%)</c:v>
                </c:pt>
              </c:strCache>
            </c:strRef>
          </c:tx>
          <c:spPr>
            <a:solidFill>
              <a:srgbClr val="2E7D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1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· LSH clustering</c:v>
                  </c:pt>
                  <c:pt idx="1">
                    <c:v>B · Suffix array</c:v>
                  </c:pt>
                  <c:pt idx="2">
                    <c:v>C · Verified growth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20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Corridors surviving each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corridors found</c:v>
                </c:pt>
              </c:strCache>
            </c:strRef>
          </c:tx>
          <c:spPr>
            <a:solidFill>
              <a:srgbClr val="2E7D96"/>
            </a:solidFill>
            <a:ln w="38100" cap="flat">
              <a:solidFill>
                <a:srgbClr val="2E7D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3757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96"/>
              </a:solidFill>
              <a:ln w="9525" cap="flat">
                <a:solidFill>
                  <a:srgbClr val="2E7D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0.05%</c:v>
                  </c:pt>
                  <c:pt idx="1">
                    <c:v>0.1%</c:v>
                  </c:pt>
                  <c:pt idx="2">
                    <c:v>0.2%</c:v>
                  </c:pt>
                  <c:pt idx="3">
                    <c:v>0.3%</c:v>
                  </c:pt>
                  <c:pt idx="4">
                    <c:v>0.5%</c:v>
                  </c:pt>
                  <c:pt idx="5">
                    <c:v>1%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46</c:v>
                </c:pt>
                <c:pt idx="2">
                  <c:v>46</c:v>
                </c:pt>
                <c:pt idx="3">
                  <c:v>46</c:v>
                </c:pt>
                <c:pt idx="4">
                  <c:v>33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3757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375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3757F"/>
                    </a:solidFill>
                    <a:latin typeface="Arial"/>
                  </a:rPr>
                  <a:t>X, percent of all trips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Mean corridor length at each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length (km)</c:v>
                </c:pt>
              </c:strCache>
            </c:strRef>
          </c:tx>
          <c:spPr>
            <a:solidFill>
              <a:srgbClr val="E9A13B"/>
            </a:solidFill>
            <a:ln w="38100" cap="flat">
              <a:solidFill>
                <a:srgbClr val="E9A13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3757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13B"/>
              </a:solidFill>
              <a:ln w="9525" cap="flat">
                <a:solidFill>
                  <a:srgbClr val="E9A1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0.05%</c:v>
                  </c:pt>
                  <c:pt idx="1">
                    <c:v>0.1%</c:v>
                  </c:pt>
                  <c:pt idx="2">
                    <c:v>0.2%</c:v>
                  </c:pt>
                  <c:pt idx="3">
                    <c:v>0.3%</c:v>
                  </c:pt>
                  <c:pt idx="4">
                    <c:v>0.5%</c:v>
                  </c:pt>
                  <c:pt idx="5">
                    <c:v>1%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11.91</c:v>
                </c:pt>
                <c:pt idx="1">
                  <c:v>11.91</c:v>
                </c:pt>
                <c:pt idx="2">
                  <c:v>11.91</c:v>
                </c:pt>
                <c:pt idx="3">
                  <c:v>11.91</c:v>
                </c:pt>
                <c:pt idx="4">
                  <c:v>12.38</c:v>
                </c:pt>
                <c:pt idx="5">
                  <c:v>12.08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63757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375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3757F"/>
                    </a:solidFill>
                    <a:latin typeface="Arial"/>
                  </a:rPr>
                  <a:t>X, percent of all trips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Ceiling on support, from trip lengths alone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 at least this long (% of fleet)</c:v>
                </c:pt>
              </c:strCache>
            </c:strRef>
          </c:tx>
          <c:spPr>
            <a:solidFill>
              <a:srgbClr val="0E3B4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≥ 1 km</c:v>
                  </c:pt>
                  <c:pt idx="1">
                    <c:v>≥ 3 km</c:v>
                  </c:pt>
                  <c:pt idx="2">
                    <c:v>≥ 5 km</c:v>
                  </c:pt>
                  <c:pt idx="3">
                    <c:v>≥ 10 km</c:v>
                  </c:pt>
                  <c:pt idx="4">
                    <c:v>≥ 20 km</c:v>
                  </c:pt>
                  <c:pt idx="5">
                    <c:v>≥ 40 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98.43</c:v>
                </c:pt>
                <c:pt idx="2">
                  <c:v>90.625</c:v>
                </c:pt>
                <c:pt idx="3">
                  <c:v>56.565</c:v>
                </c:pt>
                <c:pt idx="4">
                  <c:v>0.59</c:v>
                </c:pt>
                <c:pt idx="5">
                  <c:v>0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42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of the pipeline. Stage 1 cleaned 1.71M raw trips, Stage 2 encoded them to H3 resolution 9. This deck is about how we find the popular long sub-routes and how the three required methods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 drives everything else. Because support is defined once and verified once, the three methods are directly comparable — and a corridor with a hole is held to exactly the same evidential standard as one without.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design decision: no method is trusted with its own accuracy claim. Approximations are used only where the error is one-sided, and everything is re-measured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advantage is that near-duplicate traversals are merged rather than split into separate weaker patterns. The cost is that support is approximate — quantified two slides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prefix bucketing is lossless, not a sampling heuristic — that is what makes this a genuine distributed suffix array rather than a suffix array on a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 that produces the longest corridors and the ones carrying holes. It is also the slowest, because it makes one pass over the data per round — the trade is stated on the comparison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number: 557,823 n-grams were streamed and 99.9% of them were eliminated by the sketch before anything was shuffled. That is the whole point of using an approximate structure here — the saving is in the network, not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which method is best: they answer different questions. B gives the longest exactly-repeated stretch, C gives the longest genuinely-traversed corridor including holes, A gives the most robust popularity estimate under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direct answer to 'how accurate are your approximate structures'. We can quote a measured number per method rather than a textbook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left-hand column is a real failure mode from an earlier iteration of this pipeline, kept because it is the clearest illustration of why the guards exist. A sequence can be long and frequent and still not be a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Anti-monotonicity is the reason this works: anything frequent at a high threshold is frequent at a lower one, so mining at the floor produces a superset and the sweep is post-processing.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answer to the 40 km configuration. It is not an algorithmic failure — it is a measured property of the dataset, and we can show the distribution that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pointing out in the defence that this reuses the gate we had already built, so the extra cost of answering the third question was one short Spark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methodology rather than the headline count: the defensible claim is that everything reported was measured and audited, including the places where the answer is 'fewer than a hundred'.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for Big Data · Final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Long Sub-Routes in Porto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mining methods compared on runtime, accuracy, memory and route quality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2011680" cy="0"/>
          </a:xfrm>
          <a:prstGeom prst="line">
            <a:avLst/>
          </a:prstGeom>
          <a:noFill/>
          <a:ln w="317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trips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resolution 9 · Spark on Dataproc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verified corridors reported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5400000">
            <a:off x="9509760" y="1737360"/>
            <a:ext cx="960120" cy="841248"/>
          </a:xfrm>
          <a:prstGeom prst="hexagon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C9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10332720" y="2212848"/>
            <a:ext cx="960120" cy="841248"/>
          </a:xfrm>
          <a:prstGeom prst="hexagon">
            <a:avLst/>
          </a:prstGeom>
          <a:solidFill>
            <a:srgbClr val="2E7D96">
              <a:alpha val="45000"/>
            </a:srgbClr>
          </a:solidFill>
          <a:ln w="12700">
            <a:solidFill>
              <a:srgbClr val="5C9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9509760" y="2688336"/>
            <a:ext cx="960120" cy="841248"/>
          </a:xfrm>
          <a:prstGeom prst="hexagon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E9A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10332720" y="3163824"/>
            <a:ext cx="960120" cy="841248"/>
          </a:xfrm>
          <a:prstGeom prst="hexagon">
            <a:avLst/>
          </a:prstGeom>
          <a:solidFill>
            <a:srgbClr val="2E7D96">
              <a:alpha val="45000"/>
            </a:srgbClr>
          </a:solidFill>
          <a:ln w="12700">
            <a:solidFill>
              <a:srgbClr val="5C93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9509760" y="3639312"/>
            <a:ext cx="960120" cy="841248"/>
          </a:xfrm>
          <a:prstGeom prst="hexagon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C93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WE ARE LOOKING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corridor is a chain of segments, not a trip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whole journey — those are never popular. Not a junction — that is a point, not a route.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3520440" cy="3337560"/>
          </a:xfrm>
          <a:prstGeom prst="roundRect">
            <a:avLst>
              <a:gd name="adj" fmla="val 164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Long, not short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29535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busy junction is traversed by tens of thousands of trips but is not a route.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maximise corridor length subject to a support floor, rather than ranking by support alone.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under 8 cells is rejected as a junction.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2286000"/>
            <a:ext cx="3520440" cy="3337560"/>
          </a:xfrm>
          <a:prstGeom prst="roundRect">
            <a:avLst>
              <a:gd name="adj" fmla="val 164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4572000" y="252374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93208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Popular, and measured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999232"/>
            <a:ext cx="29535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= distinct trips that traverse every segment, in order.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100% of trips in a final pass — never inferred from the parts.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definition is used by all three methods, so the numbers compare.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37576" y="2286000"/>
            <a:ext cx="3520440" cy="3337560"/>
          </a:xfrm>
          <a:prstGeom prst="roundRect">
            <a:avLst>
              <a:gd name="adj" fmla="val 164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5400000">
            <a:off x="8293608" y="2523744"/>
            <a:ext cx="384048" cy="347472"/>
          </a:xfrm>
          <a:prstGeom prst="hexagon">
            <a:avLst/>
          </a:prstGeom>
          <a:solidFill>
            <a:srgbClr val="0E3B4F"/>
          </a:solidFill>
          <a:ln w="12700">
            <a:solidFill>
              <a:srgbClr val="0E3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14816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Holes are allowed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2999232"/>
            <a:ext cx="29535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may diverge for a stretch and rejoin — the brief's Haifa→Ashdod case.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supporting trip may spend up to 8 cells inside a hole.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the reported corridors carry at least one hole.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 ▬▬▬▬▬     hole  ▭ ▭ ▭ ▭     segment  ▬▬▬▬▬     — one corridor, two observed stretches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broadly, then verify against everything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proposes candidates using its own approximation. One shared pass then re-measures all of them exactly.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Count-Min + Bloom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k-grams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3310128"/>
            <a:ext cx="237744" cy="274320"/>
          </a:xfrm>
          <a:prstGeom prst="rightArrow">
            <a:avLst/>
          </a:prstGeom>
          <a:solidFill>
            <a:srgbClr val="C3D2D8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×3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· Suffix array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growth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3310128"/>
            <a:ext cx="237744" cy="274320"/>
          </a:xfrm>
          <a:prstGeom prst="rightArrow">
            <a:avLst/>
          </a:prstGeom>
          <a:solidFill>
            <a:srgbClr val="C3D2D8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0E3B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5624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support over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trips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34272" y="3310128"/>
            <a:ext cx="237744" cy="274320"/>
          </a:xfrm>
          <a:prstGeom prst="rightArrow">
            <a:avLst/>
          </a:prstGeom>
          <a:solidFill>
            <a:srgbClr val="C3D2D8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3660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over X%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distance buckets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verification is a separate stage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257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approximation here is one-sided: it may let an infrequent pattern through, never drop a frequent one. That makes each method safe as a candidate generator and moves the burden of accuracy onto a single exact pass — 893 candidates re-measured in 1.8s.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· CLUSTERING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MinHash + LSH clustering of segments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taxis on the same road down parallel one-way streets produce similar, not identical, cell sequences.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4553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Shingle each 12-cell window into consecutive cell pairs.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to a 32-integer signature — agreement probability equals Jaccard similarity.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banding: 8 bands × 4 rows, so windows meet in a bucket above ~0.59 similarity.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medoid becomes the cluster representative.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trips per bucket counted exactly while cold, HyperLogLog once hot.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2331720"/>
          <a:ext cx="5623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139,566 windows hashed, 786 buckets above the support floor, 31.3s.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· SUFFIX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generalised suffix array + LCP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 is a string over an alphabet of H3 cells; a shared sub-route is a substring repeated across many strings.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distributed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suffix is routed to the bucket named by its first 2 cells, and each bucket sorts independently.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Lossless: two suffixes sharing a prefix of that length always land in the same bucket.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bucket: sort (the suffix array), compute the LCP array, read LCP-intervals longest-first.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L downward yields the longest repeat at each location — the length maximisation the brief asks for.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642823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shuffle affordable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every position emits a suffix: 538,369 of them.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Bloom filter of frequent 4-grams removes any suffix that cannot start a frequent repeat.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47.0% never crossed the network — and by anti-monotonicity none of them could have produced a result.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3,863 distinct repeats found in 6.5s.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within its scope: supports here are true distinct-trip counts, capped only by the 40-cell suffix truncation that bounds per-bucket memory.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 · NEITHER CLUSTERING NOR SUFFIX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Level-wise growth with support verified every round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frequent seeds and grow one step at a time, re-measuring against the whole dataset at each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0E3B4F"/>
          </a:solidFill>
          <a:ln w="12700">
            <a:solidFill>
              <a:srgbClr val="0E3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grow instead of chain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frequent n-grams and taking the minimum support gives an upper bound that is almost never attained.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5-grams each seen by thousands of trips can chain into a corridor that zero trips ever drove.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removes it by construction: a corridor reaches length L only because a pass found 60 trips that traverse all L cells.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are proposed and verified exactly like contiguous steps.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642823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control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frequent 4-gram seeds, grown forward only — leftward growth is redundant by anti-monotonicity.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cells per round, 2 branches per corridor.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of 600, with entries sharing over 75% of their cells pruned as near-duplicates.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after 35 rounds in 149.1s.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support number this method reports is measured, not inferred — the reason its overstatement below is exactly zero.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DATA STRUCTURES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sketches actually pay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used where its error is one-sided, so it can prune aggressively without ever losing a real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68580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n-grams dropped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shuffle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8892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Count-Min sketch,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 partition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89204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0E3B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KB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filter broadcast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the exact 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99516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47.0%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suffixes never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(Method 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09828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9828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false positives,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by exact pass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26280"/>
          <a:ext cx="10835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44348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estimates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safe 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Count-Min Sketch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frequency, one-sided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negatives → safe pre-filter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membership, one-sided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the broadcast, prunes candidates in-map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MinHash + LSH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all-pairs comparison into one shuffle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ints /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HyperLogLog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per-bucket trip counts without a set of trip ids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B – 4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methods, scored the same way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corridor below was re-measured against 100% of the trips, whatever the method claimed while mining.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1097280"/>
                <a:gridCol w="1051560"/>
                <a:gridCol w="1234440"/>
                <a:gridCol w="1097280"/>
                <a:gridCol w="105156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overstated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MinHash LSH clustering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Suffix array + LCP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14.22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11.45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Verified growth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149.1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7.06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2062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 rot="5400000">
            <a:off x="896112" y="444398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fast and wide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919472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corridors (windows are fixed-length) but the highest support.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absorbing near-duplicate traversals.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5968" y="42062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 rot="5400000">
            <a:off x="4572000" y="444398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93208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is fast and exact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08576" y="4919472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exact repeats, no approximation in the counting.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express a hole — substrings are contiguous by definition.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91856" y="4206240"/>
            <a:ext cx="3547872" cy="2148840"/>
          </a:xfrm>
          <a:prstGeom prst="roundRect">
            <a:avLst>
              <a:gd name="adj" fmla="val 2553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 rot="5400000">
            <a:off x="8247888" y="4443984"/>
            <a:ext cx="384048" cy="347472"/>
          </a:xfrm>
          <a:prstGeom prst="hexagon">
            <a:avLst/>
          </a:prstGeom>
          <a:solidFill>
            <a:srgbClr val="0E3B4F"/>
          </a:solidFill>
          <a:ln w="12700">
            <a:solidFill>
              <a:srgbClr val="0E3B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69096" y="440740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is slow and honest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491947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per round, so the wall clock is the price.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method producing corridors with holes, and its support needs no correction.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approximation costs, measured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support vs verified support. The gap is the price of the approximation — asserted by nobody, measured for all three.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2331720"/>
          <a:ext cx="6035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2331720"/>
            <a:ext cx="4617720" cy="3246120"/>
          </a:xfrm>
          <a:prstGeom prst="roundRect">
            <a:avLst>
              <a:gd name="adj" fmla="val 1690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 rot="5400000">
            <a:off x="7205472" y="256946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25328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242048" y="3044952"/>
            <a:ext cx="40507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over-states because bucket support comes from a HyperLogLog, whose error is symmetric and around a couple of percent.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 are exactly zero: both count distinct trips exactly, so verification confirms rather than corrects them.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can under-state —  — every structure used has one-sided error in the safe direction.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7790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consequence: an approximate count is fine for ranking candidates, and not fine for a number you publish. Hence the verification pass.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 sequence is not the same as a long route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frequent fragments without geometric constraints produces sequences that double back through the same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3172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FBEDEB"/>
          </a:solidFill>
          <a:ln w="15875">
            <a:solidFill>
              <a:srgbClr val="B23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guards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62656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190-cell "route" containing only 81 distinct cells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 km of reported path between endpoints 3.9 km apart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tortuosity 17.3 — the corridor loops through the same streets three times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E9F4EE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guards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62656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may never appear twice in a corridor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/ straight-line distance capped at 2.5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reported tortuosity 1.36, mean 1.25 — the shape of real roads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66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at every point a corridor grows, and re-checked independently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532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tools/validate_results.py re-reads the published JSON and re-derives every length and tortuosity from the H3 cells themselves, so the audit does not depend on the mining code being right. It runs after every cluster run.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support threshold, swept in one run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X leaves only short corridors; lowering it admits long ones few trips use. Support is anti-monotone in X, so one mining run answers the whole sweep.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23774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355080" y="23774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5760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 once at X = 0.30% (60 trips). Every higher threshold is a filter on measured supports, not another cluster run — which is also how the budget was kept.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CONFIGURATIONS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can and cannot contain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can only traverse a corridor of length L if the trip is itself at least L long. That puts a ceiling on popularity no algorithm can beat.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2377440"/>
          <a:ext cx="5943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487168"/>
          <a:ext cx="4617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0515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Porto's bounding box is roughly 25 × 22 km and the median trip is under 4 km. Where a configuration returns fewer than 100 corridors we report the number found and the ceiling that explains it, rather than padding the list with sequences no taxi drove.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ROUTES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fleet's own traffic defines what is normal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third question, answered with the same machinery run in reverse.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96112" y="256946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532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044952"/>
            <a:ext cx="4828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set of frequent cell-to-cell transitions, then put it in a Bloom filter so it can be broadcast.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trip's novelty is the share of its transitions that the filter does not recognise.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19,973 trips scored in 4.3s.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slightly lowers a trip's score; there are no false negatives, so nothing unusual is hidden.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33172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6428232" y="256946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532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signal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044952"/>
            <a:ext cx="4828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taxis per cell, counted with a HyperLogLog at 256 bytes per cell regardless of traffic.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heavy traffic but few distinct vehicles are structurally different from cells that are merely busy.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approaches and single-driver habits separate from genuine arterials.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structures, opposite question: the corridor mining asks what the Bloom filter contains, the anomaly detection asks what it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defend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36192"/>
            <a:ext cx="2011680" cy="0"/>
          </a:xfrm>
          <a:prstGeom prst="line">
            <a:avLst/>
          </a:prstGeom>
          <a:noFill/>
          <a:ln w="31750">
            <a:solidFill>
              <a:srgbClr val="E9A1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822960" y="1965960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9202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Approximations only where the error is one-sided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67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of n-grams never reached the network, and nothing frequent could have been lost.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822960" y="2990088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9443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published number is measured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291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 candidates re-measured against all 20,000 trips; no support is inferred from its parts.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822960" y="4014216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9684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route has to look like a route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159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Simple-path and tortuosity guards at every growth step, plus an independent audit of the published file.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2960" y="5038344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9926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results are reported, not padded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3400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configuration has no corridors we show the trip-length ceiling that makes it impossible.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run: 224s · 46 corridors reported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3 — Methods Comparison</dc:title>
  <dc:subject>PptxGenJS Presentation</dc:subject>
  <dc:creator>Porto Taxi Project</dc:creator>
  <cp:lastModifiedBy>Porto Taxi Project</cp:lastModifiedBy>
  <cp:revision>1</cp:revision>
  <dcterms:created xsi:type="dcterms:W3CDTF">2026-08-27T17:24:07Z</dcterms:created>
  <dcterms:modified xsi:type="dcterms:W3CDTF">2026-08-27T17:24:07Z</dcterms:modified>
</cp:coreProperties>
</file>