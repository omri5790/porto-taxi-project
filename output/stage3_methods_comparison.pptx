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5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02A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4202A"/>
                </a:solidFill>
                <a:latin typeface="Cambria"/>
              </a:rPr>
              <a:t>LSH S-curve: 8 bands × 4 rows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P(share a bucket)</c:v>
                </c:pt>
              </c:strCache>
            </c:strRef>
          </c:tx>
          <c:spPr>
            <a:solidFill>
              <a:srgbClr val="2E7D96"/>
            </a:solidFill>
            <a:ln w="38100" cap="flat">
              <a:solidFill>
                <a:srgbClr val="2E7D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96"/>
              </a:solidFill>
              <a:ln w="9525" cap="flat">
                <a:solidFill>
                  <a:srgbClr val="2E7D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0.2</c:v>
                  </c:pt>
                  <c:pt idx="1">
                    <c:v>0.3</c:v>
                  </c:pt>
                  <c:pt idx="2">
                    <c:v>0.4</c:v>
                  </c:pt>
                  <c:pt idx="3">
                    <c:v>0.5</c:v>
                  </c:pt>
                  <c:pt idx="4">
                    <c:v>0.6</c:v>
                  </c:pt>
                  <c:pt idx="5">
                    <c:v>0.7</c:v>
                  </c:pt>
                  <c:pt idx="6">
                    <c:v>0.8</c:v>
                  </c:pt>
                  <c:pt idx="7">
                    <c:v>0.9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</c:v>
                </c:pt>
                <c:pt idx="1">
                  <c:v>6</c:v>
                </c:pt>
                <c:pt idx="2">
                  <c:v>19</c:v>
                </c:pt>
                <c:pt idx="3">
                  <c:v>40</c:v>
                </c:pt>
                <c:pt idx="4">
                  <c:v>67</c:v>
                </c:pt>
                <c:pt idx="5">
                  <c:v>89</c:v>
                </c:pt>
                <c:pt idx="6">
                  <c:v>99</c:v>
                </c:pt>
                <c:pt idx="7">
                  <c:v>100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3757F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63757F"/>
                    </a:solidFill>
                    <a:latin typeface="Arial"/>
                  </a:rPr>
                  <a:t>Jaccard similarity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75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12700" cap="flat">
              <a:solidFill>
                <a:srgbClr val="E3EA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75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02A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4202A"/>
                </a:solidFill>
                <a:latin typeface="Cambria"/>
              </a:rPr>
              <a:t>Support overstated before verification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support overstated (%)</c:v>
                </c:pt>
              </c:strCache>
            </c:strRef>
          </c:tx>
          <c:spPr>
            <a:solidFill>
              <a:srgbClr val="2E7D9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1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7D4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A · LSH clustering</c:v>
                  </c:pt>
                  <c:pt idx="1">
                    <c:v>B · Suffix array</c:v>
                  </c:pt>
                  <c:pt idx="2">
                    <c:v>C · Verified growth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172.68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420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75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3EA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75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02A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4202A"/>
                </a:solidFill>
                <a:latin typeface="Cambria"/>
              </a:rPr>
              <a:t>Corridors surviving each threshold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corridors found</c:v>
                </c:pt>
              </c:strCache>
            </c:strRef>
          </c:tx>
          <c:spPr>
            <a:solidFill>
              <a:srgbClr val="2E7D96"/>
            </a:solidFill>
            <a:ln w="38100" cap="flat">
              <a:solidFill>
                <a:srgbClr val="2E7D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63757F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96"/>
              </a:solidFill>
              <a:ln w="9525" cap="flat">
                <a:solidFill>
                  <a:srgbClr val="2E7D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0.002%</c:v>
                  </c:pt>
                  <c:pt idx="1">
                    <c:v>0.05%</c:v>
                  </c:pt>
                  <c:pt idx="2">
                    <c:v>0.1%</c:v>
                  </c:pt>
                  <c:pt idx="3">
                    <c:v>0.2%</c:v>
                  </c:pt>
                  <c:pt idx="4">
                    <c:v>0.3%</c:v>
                  </c:pt>
                  <c:pt idx="5">
                    <c:v>0.5%</c:v>
                  </c:pt>
                  <c:pt idx="6">
                    <c:v>1%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1380</c:v>
                </c:pt>
                <c:pt idx="1">
                  <c:v>304</c:v>
                </c:pt>
                <c:pt idx="2">
                  <c:v>106</c:v>
                </c:pt>
                <c:pt idx="3">
                  <c:v>25</c:v>
                </c:pt>
                <c:pt idx="4">
                  <c:v>9</c:v>
                </c:pt>
                <c:pt idx="5">
                  <c:v>1</c:v>
                </c:pt>
                <c:pt idx="6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63757F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3757F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63757F"/>
                    </a:solidFill>
                    <a:latin typeface="Arial"/>
                  </a:rPr>
                  <a:t>X, percent of all trips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75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3EA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75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02A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4202A"/>
                </a:solidFill>
                <a:latin typeface="Cambria"/>
              </a:rPr>
              <a:t>Mean corridor length at each threshold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length (km)</c:v>
                </c:pt>
              </c:strCache>
            </c:strRef>
          </c:tx>
          <c:spPr>
            <a:solidFill>
              <a:srgbClr val="E9A13B"/>
            </a:solidFill>
            <a:ln w="38100" cap="flat">
              <a:solidFill>
                <a:srgbClr val="E9A13B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63757F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9A13B"/>
              </a:solidFill>
              <a:ln w="9525" cap="flat">
                <a:solidFill>
                  <a:srgbClr val="E9A1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0.002%</c:v>
                  </c:pt>
                  <c:pt idx="1">
                    <c:v>0.05%</c:v>
                  </c:pt>
                  <c:pt idx="2">
                    <c:v>0.1%</c:v>
                  </c:pt>
                  <c:pt idx="3">
                    <c:v>0.2%</c:v>
                  </c:pt>
                  <c:pt idx="4">
                    <c:v>0.3%</c:v>
                  </c:pt>
                  <c:pt idx="5">
                    <c:v>0.5%</c:v>
                  </c:pt>
                  <c:pt idx="6">
                    <c:v>1%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6.08</c:v>
                </c:pt>
                <c:pt idx="1">
                  <c:v>4.09</c:v>
                </c:pt>
                <c:pt idx="2">
                  <c:v>4.04</c:v>
                </c:pt>
                <c:pt idx="3">
                  <c:v>4.02</c:v>
                </c:pt>
                <c:pt idx="4">
                  <c:v>3.98</c:v>
                </c:pt>
                <c:pt idx="5">
                  <c:v>3.98</c:v>
                </c:pt>
                <c:pt idx="6">
                  <c:v>0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63757F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3757F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63757F"/>
                    </a:solidFill>
                    <a:latin typeface="Arial"/>
                  </a:rPr>
                  <a:t>X, percent of all trips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75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3EA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75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02A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4202A"/>
                </a:solidFill>
                <a:latin typeface="Cambria"/>
              </a:rPr>
              <a:t>Ceiling on support, from trip lengths alone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trips at least this long (% of fleet)</c:v>
                </c:pt>
              </c:strCache>
            </c:strRef>
          </c:tx>
          <c:spPr>
            <a:solidFill>
              <a:srgbClr val="0E3B4F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420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≥ 1 km</c:v>
                  </c:pt>
                  <c:pt idx="1">
                    <c:v>≥ 3 km</c:v>
                  </c:pt>
                  <c:pt idx="2">
                    <c:v>≥ 5 km</c:v>
                  </c:pt>
                  <c:pt idx="3">
                    <c:v>≥ 10 km</c:v>
                  </c:pt>
                  <c:pt idx="4">
                    <c:v>≥ 20 km</c:v>
                  </c:pt>
                  <c:pt idx="5">
                    <c:v>≥ 40 km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97.3759</c:v>
                </c:pt>
                <c:pt idx="1">
                  <c:v>65.6552</c:v>
                </c:pt>
                <c:pt idx="2">
                  <c:v>37.5545</c:v>
                </c:pt>
                <c:pt idx="3">
                  <c:v>12.4046</c:v>
                </c:pt>
                <c:pt idx="4">
                  <c:v>1.5603</c:v>
                </c:pt>
                <c:pt idx="5">
                  <c:v>0.2171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420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75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5"/>
        </c:scaling>
        <c:delete val="0"/>
        <c:axPos val="l"/>
        <c:majorGridlines>
          <c:spPr>
            <a:ln w="12700" cap="flat">
              <a:solidFill>
                <a:srgbClr val="E3EAED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75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Stage 3 of the pipeline. Stage 1 cleaned 1.71M raw trips, Stage 2 encoded them to H3 resolution 9. This deck is about how we find the popular long sub-routes and how the three required methods compare.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definition drives everything else. Because support is defined once and verified once, the three methods are directly comparable — and a corridor with a hole is held to exactly the same evidential standard as one without.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design decision: no method is trusted with its own accuracy claim. Approximations are used only where the error is one-sided, and everything is re-measured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advantage is that near-duplicate traversals are merged rather than split into separate weaker patterns. The cost is that support is approximate — quantified two slides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that the prefix bucketing is lossless, not a sampling heuristic — that is what makes this a genuine distributed suffix array rather than a suffix array on a sample.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method that produces the longest corridors and the ones carrying holes. It is also the slowest, because it makes one pass over the data per round — the trade is stated on the comparison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headline number: 23,354,267 n-grams were streamed and 99.9% of them were eliminated by the sketch before anything was shuffled. That is the whole point of using an approximate structure here — the saving is in the network, not the arithmetic.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which method is best: they answer different questions. B gives the longest exactly-repeated stretch, C gives the longest genuinely-traversed corridor including holes, A gives the most robust popularity estimate under noise.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direct answer to 'how accurate are your approximate structures'. We can quote a measured number per method rather than a textbook bound.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left-hand column is a real failure mode from an earlier iteration of this pipeline, kept because it is the clearest illustration of why the guards exist. A sequence can be long and frequent and still not be a route.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Anti-monotonicity is the reason this works: anything frequent at a high threshold is frequent at a lower one, so mining at the floor produces a superset and the sweep is post-processing.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honest answer to the 40 km configuration. It is not an algorithmic failure — it is a measured property of the dataset, and we can show the distribution that proves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pointing out in the defence that this reuses the gate we had already built, so the extra cost of answering the third question was one short Spark stage.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methodology rather than the headline count: the defensible claim is that everything reported was measured and audited, including the places where the answer is 'fewer than a hundred'.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3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 for Big Data · Final Project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288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Popular Long Sub-Routes in Porto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83464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mining methods compared on runtime, accuracy, memory and route quality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2011680" cy="0"/>
          </a:xfrm>
          <a:prstGeom prst="line">
            <a:avLst/>
          </a:prstGeom>
          <a:noFill/>
          <a:ln w="31750">
            <a:solidFill>
              <a:srgbClr val="E9A1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38862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FB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1,616,575 trips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FB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resolution 9 · Spark on Dataproc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FB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1,380 verified corridors reported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 rot="5400000">
            <a:off x="9509760" y="1737360"/>
            <a:ext cx="960120" cy="841248"/>
          </a:xfrm>
          <a:prstGeom prst="hexagon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5C93A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5400000">
            <a:off x="10332720" y="2212848"/>
            <a:ext cx="960120" cy="841248"/>
          </a:xfrm>
          <a:prstGeom prst="hexagon">
            <a:avLst/>
          </a:prstGeom>
          <a:solidFill>
            <a:srgbClr val="2E7D96">
              <a:alpha val="45000"/>
            </a:srgbClr>
          </a:solidFill>
          <a:ln w="12700">
            <a:solidFill>
              <a:srgbClr val="5C93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5400000">
            <a:off x="9509760" y="2688336"/>
            <a:ext cx="960120" cy="841248"/>
          </a:xfrm>
          <a:prstGeom prst="hexagon">
            <a:avLst/>
          </a:prstGeom>
          <a:solidFill>
            <a:srgbClr val="FFFFFF">
              <a:alpha val="12000"/>
            </a:srgbClr>
          </a:solidFill>
          <a:ln w="25400">
            <a:solidFill>
              <a:srgbClr val="E9A13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10332720" y="3163824"/>
            <a:ext cx="960120" cy="841248"/>
          </a:xfrm>
          <a:prstGeom prst="hexagon">
            <a:avLst/>
          </a:prstGeom>
          <a:solidFill>
            <a:srgbClr val="2E7D96">
              <a:alpha val="45000"/>
            </a:srgbClr>
          </a:solidFill>
          <a:ln w="12700">
            <a:solidFill>
              <a:srgbClr val="5C93A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5400000">
            <a:off x="9509760" y="3639312"/>
            <a:ext cx="960120" cy="841248"/>
          </a:xfrm>
          <a:prstGeom prst="hexagon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5C93A8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E7D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 WE ARE LOOKING FOR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corridor is a chain of segments, not a trip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727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whole journey — those are never popular. Not a junction — that is a point, not a route.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rot="5400000">
            <a:off x="11064240" y="457200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2E7D9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11384280" y="676656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E9A1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11064240" y="896112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0E3B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2286000"/>
            <a:ext cx="3520440" cy="3337560"/>
          </a:xfrm>
          <a:prstGeom prst="roundRect">
            <a:avLst>
              <a:gd name="adj" fmla="val 1644"/>
            </a:avLst>
          </a:prstGeom>
          <a:solidFill>
            <a:srgbClr val="EEF3F5"/>
          </a:solidFill>
          <a:ln w="12700">
            <a:solidFill>
              <a:srgbClr val="DCE5E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 rot="5400000">
            <a:off x="850392" y="2523744"/>
            <a:ext cx="384048" cy="347472"/>
          </a:xfrm>
          <a:prstGeom prst="hexagon">
            <a:avLst/>
          </a:prstGeom>
          <a:solidFill>
            <a:srgbClr val="2E7D96"/>
          </a:solidFill>
          <a:ln w="12700">
            <a:solidFill>
              <a:srgbClr val="2E7D9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71600" y="248716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Long, not short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999232"/>
            <a:ext cx="2953512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busy junction is traversed by tens of thousands of trips but is not a route.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maximise corridor length subject to a support floor, rather than ranking by support alone.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under 8 cells is rejected as a junction.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15968" y="2286000"/>
            <a:ext cx="3520440" cy="3337560"/>
          </a:xfrm>
          <a:prstGeom prst="roundRect">
            <a:avLst>
              <a:gd name="adj" fmla="val 1644"/>
            </a:avLst>
          </a:prstGeom>
          <a:solidFill>
            <a:srgbClr val="EEF3F5"/>
          </a:solidFill>
          <a:ln w="12700">
            <a:solidFill>
              <a:srgbClr val="DCE5E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 rot="5400000">
            <a:off x="4572000" y="2523744"/>
            <a:ext cx="384048" cy="347472"/>
          </a:xfrm>
          <a:prstGeom prst="hexagon">
            <a:avLst/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93208" y="248716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Popular, and measured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999232"/>
            <a:ext cx="2953512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= distinct trips that traverse every segment, in order.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against 100% of trips in a final pass — never inferred from the parts.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definition is used by all three methods, so the numbers compare.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37576" y="2286000"/>
            <a:ext cx="3520440" cy="3337560"/>
          </a:xfrm>
          <a:prstGeom prst="roundRect">
            <a:avLst>
              <a:gd name="adj" fmla="val 1644"/>
            </a:avLst>
          </a:prstGeom>
          <a:solidFill>
            <a:srgbClr val="EEF3F5"/>
          </a:solidFill>
          <a:ln w="12700">
            <a:solidFill>
              <a:srgbClr val="DCE5E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 rot="5400000">
            <a:off x="8293608" y="2523744"/>
            <a:ext cx="384048" cy="347472"/>
          </a:xfrm>
          <a:prstGeom prst="hexagon">
            <a:avLst/>
          </a:prstGeom>
          <a:solidFill>
            <a:srgbClr val="0E3B4F"/>
          </a:solidFill>
          <a:ln w="12700">
            <a:solidFill>
              <a:srgbClr val="0E3B4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814816" y="248716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Holes are allowed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330184" y="2999232"/>
            <a:ext cx="2953512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Trips may diverge for a stretch and rejoin — the brief's Haifa→Ashdod case.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supporting trip may spend up to 8 cells inside a hole.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of the reported corridors carry at least one hole.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  ▬▬▬▬▬     hole  ▭ ▭ ▭ ▭     segment  ▬▬▬▬▬     — one corridor, two observed stretches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E7D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Mine broadly, then verify against everything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727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method proposes candidates using its own approximation. One shared pass then re-measures all of them exactly.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rot="5400000">
            <a:off x="11064240" y="457200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2E7D9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11384280" y="676656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E9A1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11064240" y="896112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0E3B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468880"/>
            <a:ext cx="2514600" cy="1965960"/>
          </a:xfrm>
          <a:prstGeom prst="roundRect">
            <a:avLst>
              <a:gd name="adj" fmla="val 2791"/>
            </a:avLst>
          </a:prstGeom>
          <a:solidFill>
            <a:srgbClr val="EEF3F5"/>
          </a:solidFill>
          <a:ln w="19050">
            <a:solidFill>
              <a:srgbClr val="2E7D9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95528" y="25786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85292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29184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Count-Min + Bloom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k-grams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73552" y="3310128"/>
            <a:ext cx="237744" cy="274320"/>
          </a:xfrm>
          <a:prstGeom prst="rightArrow">
            <a:avLst/>
          </a:prstGeom>
          <a:solidFill>
            <a:srgbClr val="C3D2D8"/>
          </a:solidFill>
          <a:ln w="12700">
            <a:solidFill>
              <a:srgbClr val="C3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66160" y="2468880"/>
            <a:ext cx="2514600" cy="1965960"/>
          </a:xfrm>
          <a:prstGeom prst="roundRect">
            <a:avLst>
              <a:gd name="adj" fmla="val 2791"/>
            </a:avLst>
          </a:prstGeom>
          <a:solidFill>
            <a:srgbClr val="EEF3F5"/>
          </a:solidFill>
          <a:ln w="19050">
            <a:solidFill>
              <a:srgbClr val="E9A1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75888" y="25786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566160" y="285292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Mine ×3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329184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LSH · Suffix array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growth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53912" y="3310128"/>
            <a:ext cx="237744" cy="274320"/>
          </a:xfrm>
          <a:prstGeom prst="rightArrow">
            <a:avLst/>
          </a:prstGeom>
          <a:solidFill>
            <a:srgbClr val="C3D2D8"/>
          </a:solidFill>
          <a:ln w="12700">
            <a:solidFill>
              <a:srgbClr val="C3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46520" y="2468880"/>
            <a:ext cx="2514600" cy="1965960"/>
          </a:xfrm>
          <a:prstGeom prst="roundRect">
            <a:avLst>
              <a:gd name="adj" fmla="val 2791"/>
            </a:avLst>
          </a:prstGeom>
          <a:solidFill>
            <a:srgbClr val="EEF3F5"/>
          </a:solidFill>
          <a:ln w="19050">
            <a:solidFill>
              <a:srgbClr val="0E3B4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56248" y="25786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285292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329184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support over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of trips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034272" y="3310128"/>
            <a:ext cx="237744" cy="274320"/>
          </a:xfrm>
          <a:prstGeom prst="rightArrow">
            <a:avLst/>
          </a:prstGeom>
          <a:solidFill>
            <a:srgbClr val="C3D2D8"/>
          </a:solidFill>
          <a:ln w="12700">
            <a:solidFill>
              <a:srgbClr val="C3D2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326880" y="2468880"/>
            <a:ext cx="2514600" cy="1965960"/>
          </a:xfrm>
          <a:prstGeom prst="roundRect">
            <a:avLst>
              <a:gd name="adj" fmla="val 2791"/>
            </a:avLst>
          </a:prstGeom>
          <a:solidFill>
            <a:srgbClr val="EEF3F5"/>
          </a:solidFill>
          <a:ln w="19050">
            <a:solidFill>
              <a:srgbClr val="2E7D9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436608" y="25786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9326880" y="285292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329184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over X%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distance buckets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85800" y="4892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verification is a separate stage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52578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approximation here is one-sided: it may let an infrequent pattern through, never drop a frequent one. That makes each method safe as a candidate generator and moves the burden of accuracy onto a single exact pass — 2,782 candidates re-measured in 24.4s.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E7D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A · CLUSTERING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MinHash + LSH clustering of segments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727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taxis on the same road down parallel one-way streets produce similar, not identical, cell sequences.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rot="5400000">
            <a:off x="11064240" y="457200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2E7D9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11384280" y="676656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E9A1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11064240" y="896112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0E3B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2286000"/>
            <a:ext cx="5120640" cy="3246120"/>
          </a:xfrm>
          <a:prstGeom prst="roundRect">
            <a:avLst>
              <a:gd name="adj" fmla="val 1690"/>
            </a:avLst>
          </a:prstGeom>
          <a:solidFill>
            <a:srgbClr val="EEF3F5"/>
          </a:solidFill>
          <a:ln w="12700">
            <a:solidFill>
              <a:srgbClr val="DCE5E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 rot="5400000">
            <a:off x="850392" y="2523744"/>
            <a:ext cx="384048" cy="347472"/>
          </a:xfrm>
          <a:prstGeom prst="hexagon">
            <a:avLst/>
          </a:prstGeom>
          <a:solidFill>
            <a:srgbClr val="2E7D96"/>
          </a:solidFill>
          <a:ln w="12700">
            <a:solidFill>
              <a:srgbClr val="2E7D9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71600" y="2487168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999232"/>
            <a:ext cx="455371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Shingle each 12-cell window into consecutive cell pairs.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MinHash to a 32-integer signature — agreement probability equals Jaccard similarity.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LSH banding: 8 bands × 4 rows, so windows meet in a bucket above ~0.59 similarity.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bucket medoid becomes the cluster representative.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trips per bucket counted exactly while cold, HyperLogLog once hot.</a:t>
            </a:r>
            <a:endParaRPr lang="en-US" sz="115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943600" y="2331720"/>
          <a:ext cx="56235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59436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4,496,659 windows hashed, 111,775 buckets above the support floor, 949.6s.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E7D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B · SUFFIX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Distributed generalised suffix array + LCP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727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trip is a string over an alphabet of H3 cells; a shared sub-route is a substring repeated across many strings.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rot="5400000">
            <a:off x="11064240" y="457200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2E7D9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11384280" y="676656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E9A1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11064240" y="896112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0E3B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2286000"/>
            <a:ext cx="5394960" cy="3291840"/>
          </a:xfrm>
          <a:prstGeom prst="roundRect">
            <a:avLst>
              <a:gd name="adj" fmla="val 1667"/>
            </a:avLst>
          </a:prstGeom>
          <a:solidFill>
            <a:srgbClr val="EEF3F5"/>
          </a:solidFill>
          <a:ln w="12700">
            <a:solidFill>
              <a:srgbClr val="DCE5E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 rot="5400000">
            <a:off x="850392" y="2523744"/>
            <a:ext cx="384048" cy="347472"/>
          </a:xfrm>
          <a:prstGeom prst="hexagon">
            <a:avLst/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71600" y="24871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Making it distributed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999232"/>
            <a:ext cx="482803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suffix is routed to the bucket named by its first 2 cells, and each bucket sorts independently.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Lossless: two suffixes sharing a prefix of that length always land in the same bucket.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bucket: sort (the suffix array), compute the LCP array, read LCP-intervals longest-first.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 L downward yields the longest repeat at each location — the length maximisation the brief asks for.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2286000"/>
            <a:ext cx="5394960" cy="3291840"/>
          </a:xfrm>
          <a:prstGeom prst="roundRect">
            <a:avLst>
              <a:gd name="adj" fmla="val 1667"/>
            </a:avLst>
          </a:prstGeom>
          <a:solidFill>
            <a:srgbClr val="EEF3F5"/>
          </a:solidFill>
          <a:ln w="12700">
            <a:solidFill>
              <a:srgbClr val="DCE5E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 rot="5400000">
            <a:off x="6428232" y="2523744"/>
            <a:ext cx="384048" cy="347472"/>
          </a:xfrm>
          <a:prstGeom prst="hexagon">
            <a:avLst/>
          </a:prstGeom>
          <a:solidFill>
            <a:srgbClr val="2E7D96"/>
          </a:solidFill>
          <a:ln w="12700">
            <a:solidFill>
              <a:srgbClr val="2E7D9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49440" y="24871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Keeping the shuffle affordable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64808" y="2999232"/>
            <a:ext cx="482803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Naively every position emits a suffix: 21,805,095 of them.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Bloom filter of frequent 4-grams removes any suffix that cannot start a frequent repeat.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3.3% never crossed the network — and by anti-monotonicity none of them could have produced a result.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561,043 distinct repeats found in 395.5s.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within its scope: supports here are true distinct-trip counts, capped only by the 70-cell suffix truncation that bounds per-bucket memory.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E7D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C · NEITHER CLUSTERING NOR SUFFIX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Level-wise growth with support verified every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727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frequent seeds and grow one step at a time, re-measuring against the whole dataset at each step.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rot="5400000">
            <a:off x="11064240" y="457200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2E7D9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11384280" y="676656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E9A1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11064240" y="896112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0E3B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2286000"/>
            <a:ext cx="5394960" cy="3291840"/>
          </a:xfrm>
          <a:prstGeom prst="roundRect">
            <a:avLst>
              <a:gd name="adj" fmla="val 1667"/>
            </a:avLst>
          </a:prstGeom>
          <a:solidFill>
            <a:srgbClr val="EEF3F5"/>
          </a:solidFill>
          <a:ln w="12700">
            <a:solidFill>
              <a:srgbClr val="DCE5E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 rot="5400000">
            <a:off x="850392" y="2523744"/>
            <a:ext cx="384048" cy="347472"/>
          </a:xfrm>
          <a:prstGeom prst="hexagon">
            <a:avLst/>
          </a:prstGeom>
          <a:solidFill>
            <a:srgbClr val="0E3B4F"/>
          </a:solidFill>
          <a:ln w="12700">
            <a:solidFill>
              <a:srgbClr val="0E3B4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71600" y="24871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grow instead of chain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999232"/>
            <a:ext cx="482803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Chaining frequent n-grams and taking the minimum support gives an upper bound that is almost never attained.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Fifty 5-grams each seen by thousands of trips can chain into a corridor that zero trips ever drove.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removes it by construction: a corridor reaches length L only because a pass found 33 trips that traverse all L cells.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Holes are proposed and verified exactly like contiguous steps.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2286000"/>
            <a:ext cx="5394960" cy="3291840"/>
          </a:xfrm>
          <a:prstGeom prst="roundRect">
            <a:avLst>
              <a:gd name="adj" fmla="val 1667"/>
            </a:avLst>
          </a:prstGeom>
          <a:solidFill>
            <a:srgbClr val="EEF3F5"/>
          </a:solidFill>
          <a:ln w="12700">
            <a:solidFill>
              <a:srgbClr val="DCE5E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 rot="5400000">
            <a:off x="6428232" y="2523744"/>
            <a:ext cx="384048" cy="347472"/>
          </a:xfrm>
          <a:prstGeom prst="hexagon">
            <a:avLst/>
          </a:prstGeom>
          <a:solidFill>
            <a:srgbClr val="2E7D96"/>
          </a:solidFill>
          <a:ln w="12700">
            <a:solidFill>
              <a:srgbClr val="2E7D9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49440" y="24871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control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64808" y="2999232"/>
            <a:ext cx="482803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29,234 frequent 4-gram seeds, grown forward only — leftward growth is redundant by anti-monotonicity.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4 cells per round, 2 branches per corridor.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 of 600, with entries sharing over 75% of their cells pruned as near-duplicates.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Converged after 34 rounds in 2,257.8s.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support number this method reports is measured, not inferred — the reason its overstatement below is exactly zero.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E7D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 DATA STRUCTURES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sketches actually pay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727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is used where its error is one-sided, so it can prune aggressively without ever losing a real result.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rot="5400000">
            <a:off x="11064240" y="457200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2E7D9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11384280" y="676656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E9A1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11064240" y="896112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0E3B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5400000">
            <a:off x="685800" y="2377440"/>
            <a:ext cx="1874520" cy="1645920"/>
          </a:xfrm>
          <a:prstGeom prst="hexagon">
            <a:avLst/>
          </a:prstGeom>
          <a:solidFill>
            <a:srgbClr val="EEF3F5"/>
          </a:solidFill>
          <a:ln w="19050">
            <a:solidFill>
              <a:srgbClr val="2E7D9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761488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D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99.9%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2461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n-grams dropped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shuffle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rot="5400000">
            <a:off x="2788920" y="2377440"/>
            <a:ext cx="1874520" cy="1645920"/>
          </a:xfrm>
          <a:prstGeom prst="hexagon">
            <a:avLst/>
          </a:prstGeom>
          <a:solidFill>
            <a:srgbClr val="EEF3F5"/>
          </a:solidFill>
          <a:ln w="19050">
            <a:solidFill>
              <a:srgbClr val="E9A13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88920" y="2761488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 MB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2651760" y="32461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Count-Min sketch,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per partition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 rot="5400000">
            <a:off x="4892040" y="2377440"/>
            <a:ext cx="1874520" cy="1645920"/>
          </a:xfrm>
          <a:prstGeom prst="hexagon">
            <a:avLst/>
          </a:prstGeom>
          <a:solidFill>
            <a:srgbClr val="EEF3F5"/>
          </a:solidFill>
          <a:ln w="19050">
            <a:solidFill>
              <a:srgbClr val="0E3B4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92040" y="2761488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3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34.2 KB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4754880" y="32461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 filter broadcast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the exact set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rot="5400000">
            <a:off x="6995160" y="2377440"/>
            <a:ext cx="1874520" cy="1645920"/>
          </a:xfrm>
          <a:prstGeom prst="hexagon">
            <a:avLst/>
          </a:prstGeom>
          <a:solidFill>
            <a:srgbClr val="EEF3F5"/>
          </a:solidFill>
          <a:ln w="19050">
            <a:solidFill>
              <a:srgbClr val="2E7D9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95160" y="2761488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D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3.3%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32461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suffixes never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emitted (Method B)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rot="5400000">
            <a:off x="9098280" y="2377440"/>
            <a:ext cx="1874520" cy="1645920"/>
          </a:xfrm>
          <a:prstGeom prst="hexagon">
            <a:avLst/>
          </a:prstGeom>
          <a:solidFill>
            <a:srgbClr val="EEF3F5"/>
          </a:solidFill>
          <a:ln w="19050">
            <a:solidFill>
              <a:srgbClr val="E9A13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98280" y="2761488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0.0%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0" y="32461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false positives,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by exact pass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4526280"/>
          <a:ext cx="10835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443484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estimates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is safe here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footprint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3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Count-Min Sketch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3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frequency, one-sided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3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false negatives → safe pre-filter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3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MB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3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Bloom filter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3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membership, one-sided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3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shrinks the broadcast, prunes candidates in-map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3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34.2 KB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3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MinHash + LSH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3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3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turns all-pairs comparison into one shuffle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3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ints / window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3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HyperLogLog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3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distinct count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3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per-bucket trip counts without a set of trip ids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3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 B – 4 KB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E7D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methods, scored the same way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727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corridor below was re-measured against 100% of the trips, whatever the method claimed while mining.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rot="5400000">
            <a:off x="11064240" y="457200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2E7D9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11384280" y="676656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E9A1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11064240" y="896112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0E3B4F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31720"/>
          <a:ext cx="10881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960120"/>
                <a:gridCol w="1097280"/>
                <a:gridCol w="1051560"/>
                <a:gridCol w="1234440"/>
                <a:gridCol w="1097280"/>
                <a:gridCol w="1051560"/>
                <a:gridCol w="16459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corridors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length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cells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holes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 overstated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· MinHash LSH clustering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949.6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5.42 km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4.15 km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B23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172.7%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· Suffix array + LCP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395.5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13.51 km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10.46 km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· Verified growth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2,257.8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18.48 km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7.94 km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40080" y="4206240"/>
            <a:ext cx="3520440" cy="2148840"/>
          </a:xfrm>
          <a:prstGeom prst="roundRect">
            <a:avLst>
              <a:gd name="adj" fmla="val 2553"/>
            </a:avLst>
          </a:prstGeom>
          <a:solidFill>
            <a:srgbClr val="EEF3F5"/>
          </a:solidFill>
          <a:ln w="12700">
            <a:solidFill>
              <a:srgbClr val="DCE5E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 rot="5400000">
            <a:off x="896112" y="4443984"/>
            <a:ext cx="384048" cy="347472"/>
          </a:xfrm>
          <a:prstGeom prst="hexagon">
            <a:avLst/>
          </a:prstGeom>
          <a:solidFill>
            <a:srgbClr val="2E7D96"/>
          </a:solidFill>
          <a:ln w="12700">
            <a:solidFill>
              <a:srgbClr val="2E7D9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417320" y="440740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is fast and wide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32688" y="4919472"/>
            <a:ext cx="29535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Shortest corridors (windows are fixed-length) but the highest support.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at absorbing near-duplicate traversals.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315968" y="4206240"/>
            <a:ext cx="3520440" cy="2148840"/>
          </a:xfrm>
          <a:prstGeom prst="roundRect">
            <a:avLst>
              <a:gd name="adj" fmla="val 2553"/>
            </a:avLst>
          </a:prstGeom>
          <a:solidFill>
            <a:srgbClr val="EEF3F5"/>
          </a:solidFill>
          <a:ln w="12700">
            <a:solidFill>
              <a:srgbClr val="DCE5E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 rot="5400000">
            <a:off x="4572000" y="4443984"/>
            <a:ext cx="384048" cy="347472"/>
          </a:xfrm>
          <a:prstGeom prst="hexagon">
            <a:avLst/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93208" y="440740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is fast and exact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4608576" y="4919472"/>
            <a:ext cx="29535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Longest exact repeats, no approximation in the counting.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express a hole — substrings are contiguous by definition.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7991856" y="4206240"/>
            <a:ext cx="3547872" cy="2148840"/>
          </a:xfrm>
          <a:prstGeom prst="roundRect">
            <a:avLst>
              <a:gd name="adj" fmla="val 2553"/>
            </a:avLst>
          </a:prstGeom>
          <a:solidFill>
            <a:srgbClr val="EEF3F5"/>
          </a:solidFill>
          <a:ln w="12700">
            <a:solidFill>
              <a:srgbClr val="DCE5E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 rot="5400000">
            <a:off x="8247888" y="4443984"/>
            <a:ext cx="384048" cy="347472"/>
          </a:xfrm>
          <a:prstGeom prst="hexagon">
            <a:avLst/>
          </a:prstGeom>
          <a:solidFill>
            <a:srgbClr val="0E3B4F"/>
          </a:solidFill>
          <a:ln w="12700">
            <a:solidFill>
              <a:srgbClr val="0E3B4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769096" y="4407408"/>
            <a:ext cx="2542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is slow and honest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284464" y="4919472"/>
            <a:ext cx="29809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pass per round, so the wall clock is the price.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method producing corridors with holes, and its support needs no correction.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E7D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approximation costs, measured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727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Mining support vs verified support. The gap is the price of the approximation — asserted by nobody, measured for all three.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rot="5400000">
            <a:off x="11064240" y="457200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2E7D9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11384280" y="676656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E9A1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11064240" y="896112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0E3B4F"/>
            </a:solidFill>
            <a:prstDash val="solid"/>
          </a:ln>
        </p:spPr>
      </p:sp>
      <p:graphicFrame>
        <p:nvGraphicFramePr>
          <p:cNvPr id="8" name="Chart 0" descr=""/>
          <p:cNvGraphicFramePr/>
          <p:nvPr/>
        </p:nvGraphicFramePr>
        <p:xfrm>
          <a:off x="685800" y="2331720"/>
          <a:ext cx="60350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6949440" y="2331720"/>
            <a:ext cx="4617720" cy="3246120"/>
          </a:xfrm>
          <a:prstGeom prst="roundRect">
            <a:avLst>
              <a:gd name="adj" fmla="val 1690"/>
            </a:avLst>
          </a:prstGeom>
          <a:solidFill>
            <a:srgbClr val="EEF3F5"/>
          </a:solidFill>
          <a:ln w="12700">
            <a:solidFill>
              <a:srgbClr val="DCE5E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 rot="5400000">
            <a:off x="7205472" y="2569464"/>
            <a:ext cx="384048" cy="347472"/>
          </a:xfrm>
          <a:prstGeom prst="hexagon">
            <a:avLst/>
          </a:prstGeom>
          <a:solidFill>
            <a:srgbClr val="2E7D96"/>
          </a:solidFill>
          <a:ln w="12700">
            <a:solidFill>
              <a:srgbClr val="2E7D9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26680" y="2532888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chart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242048" y="3044952"/>
            <a:ext cx="405079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over-states because bucket support comes from a HyperLogLog, whose error is symmetric and around a couple of percent.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and C are exactly zero: both count distinct trips exactly, so verification confirms rather than corrects them.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 three can under-state —  — every structure used has one-sided error in the safe direction.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577900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practical consequence: an approximate count is fine for ranking candidates, and not fine for a number you publish. Hence the verification pass.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E7D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QUALITY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long sequence is not the same as a long route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727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Chaining frequent fragments without geometric constraints produces sequences that double back through the same cells.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rot="5400000">
            <a:off x="11064240" y="457200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2E7D9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11384280" y="676656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E9A1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11064240" y="896112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0E3B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331720"/>
            <a:ext cx="5257800" cy="2514600"/>
          </a:xfrm>
          <a:prstGeom prst="roundRect">
            <a:avLst>
              <a:gd name="adj" fmla="val 2182"/>
            </a:avLst>
          </a:prstGeom>
          <a:solidFill>
            <a:srgbClr val="FBEDEB"/>
          </a:solidFill>
          <a:ln w="15875">
            <a:solidFill>
              <a:srgbClr val="B23A2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254203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3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Without the guards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2962656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A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190-cell "route" containing only 81 distinct cells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A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66.8 km of reported path between endpoints 3.9 km apart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A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tortuosity 17.3 — the corridor loops through the same streets three times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63640" y="2331720"/>
            <a:ext cx="5257800" cy="2514600"/>
          </a:xfrm>
          <a:prstGeom prst="roundRect">
            <a:avLst>
              <a:gd name="adj" fmla="val 2182"/>
            </a:avLst>
          </a:prstGeom>
          <a:solidFill>
            <a:srgbClr val="E9F4EE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37960" y="254203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the guards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962656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35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cell may never appear twice in a corridor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35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length / straight-line distance capped at 2.5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35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reported tortuosity 2.48, mean 1.52 — the shape of real roads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1663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Enforced at every point a corridor grows, and re-checked independently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5321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tools/validate_results.py re-reads the published JSON and re-derives every length and tortuosity from the H3 cells themselves, so the audit does not depend on the mining code being right. It runs after every cluster run.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E7D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support threshold, swept in one run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727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 X leaves only short corridors; lowering it admits long ones few trips use. Support is anti-monotone in X, so one mining run answers the whole sweep.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rot="5400000">
            <a:off x="11064240" y="457200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2E7D9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11384280" y="676656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E9A1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11064240" y="896112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0E3B4F"/>
            </a:solidFill>
            <a:prstDash val="solid"/>
          </a:ln>
        </p:spPr>
      </p:sp>
      <p:graphicFrame>
        <p:nvGraphicFramePr>
          <p:cNvPr id="8" name="Chart 0" descr=""/>
          <p:cNvGraphicFramePr/>
          <p:nvPr/>
        </p:nvGraphicFramePr>
        <p:xfrm>
          <a:off x="685800" y="2377440"/>
          <a:ext cx="54864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Chart 1" descr=""/>
          <p:cNvGraphicFramePr/>
          <p:nvPr/>
        </p:nvGraphicFramePr>
        <p:xfrm>
          <a:off x="6355080" y="2377440"/>
          <a:ext cx="52120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85800" y="57607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Mined once at X = 0.00% (33 trips). Every higher threshold is a filter on measured supports, not another cluster run — which is also how the budget was kept.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E7D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CONFIGURATIONS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data can and cannot contain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727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trip can only traverse a corridor of length L if the trip is itself at least L long. That puts a ceiling on popularity no algorithm can beat.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rot="5400000">
            <a:off x="11064240" y="457200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2E7D9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11384280" y="676656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E9A1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11064240" y="896112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0E3B4F"/>
            </a:solidFill>
            <a:prstDash val="solid"/>
          </a:ln>
        </p:spPr>
      </p:sp>
      <p:graphicFrame>
        <p:nvGraphicFramePr>
          <p:cNvPr id="8" name="Chart 0" descr=""/>
          <p:cNvGraphicFramePr/>
          <p:nvPr/>
        </p:nvGraphicFramePr>
        <p:xfrm>
          <a:off x="685800" y="2377440"/>
          <a:ext cx="594360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2487168"/>
          <a:ext cx="46177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14400"/>
                <a:gridCol w="1051560"/>
                <a:gridCol w="10972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used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ceiling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1 km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375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97.376%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3 km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375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65.655%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5 km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375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37.555%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10 km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375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12.405%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20 km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E9A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375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1.560%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40 km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E9A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375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85800" y="57607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Porto's bounding box is roughly 25 × 22 km and the median trip is under 4 km. Where a configuration returns fewer than 100 corridors we report the number found and the ceiling that explains it, rather than padding the list with sequences no taxi drove.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E7D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UNUSUAL ROUTES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fleet's own traffic defines what is normal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727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brief's third question, answered with the same machinery run in reverse.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rot="5400000">
            <a:off x="11064240" y="457200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2E7D9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11384280" y="676656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E9A1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11064240" y="896112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0E3B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331720"/>
            <a:ext cx="5394960" cy="3200400"/>
          </a:xfrm>
          <a:prstGeom prst="roundRect">
            <a:avLst>
              <a:gd name="adj" fmla="val 1714"/>
            </a:avLst>
          </a:prstGeom>
          <a:solidFill>
            <a:srgbClr val="EEF3F5"/>
          </a:solidFill>
          <a:ln w="12700">
            <a:solidFill>
              <a:srgbClr val="DCE5E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 rot="5400000">
            <a:off x="896112" y="2569464"/>
            <a:ext cx="384048" cy="347472"/>
          </a:xfrm>
          <a:prstGeom prst="hexagon">
            <a:avLst/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253288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932688" y="3044952"/>
            <a:ext cx="482803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set of frequent cell-to-cell transitions, then put it in a Bloom filter so it can be broadcast.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trip's novelty is the share of its transitions that the filter does not recognise.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1,355,986 trips scored in 108.6s.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false positive slightly lowers a trip's score; there are no false negatives, so nothing unusual is hidden.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2331720"/>
            <a:ext cx="5394960" cy="3200400"/>
          </a:xfrm>
          <a:prstGeom prst="roundRect">
            <a:avLst>
              <a:gd name="adj" fmla="val 1714"/>
            </a:avLst>
          </a:prstGeom>
          <a:solidFill>
            <a:srgbClr val="EEF3F5"/>
          </a:solidFill>
          <a:ln w="12700">
            <a:solidFill>
              <a:srgbClr val="DCE5E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 rot="5400000">
            <a:off x="6428232" y="2569464"/>
            <a:ext cx="384048" cy="347472"/>
          </a:xfrm>
          <a:prstGeom prst="hexagon">
            <a:avLst/>
          </a:prstGeom>
          <a:solidFill>
            <a:srgbClr val="2E7D96"/>
          </a:solidFill>
          <a:ln w="12700">
            <a:solidFill>
              <a:srgbClr val="2E7D9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49440" y="253288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second signal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64808" y="3044952"/>
            <a:ext cx="482803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taxis per cell, counted with a HyperLogLog at 256 bytes per cell regardless of traffic.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with heavy traffic but few distinct vehicles are structurally different from cells that are merely busy.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Depot approaches and single-driver habits separate from genuine arterials.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structures, opposite question: the corridor mining asks what the Bloom filter contains, the anomaly detection asks what it does not.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3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would defend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536192"/>
            <a:ext cx="2011680" cy="0"/>
          </a:xfrm>
          <a:prstGeom prst="line">
            <a:avLst/>
          </a:prstGeom>
          <a:noFill/>
          <a:ln w="31750">
            <a:solidFill>
              <a:srgbClr val="E9A13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5400000">
            <a:off x="822960" y="1965960"/>
            <a:ext cx="420624" cy="365760"/>
          </a:xfrm>
          <a:prstGeom prst="hexagon">
            <a:avLst/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920240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Approximations only where the error is one-sided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2267712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99.9% of n-grams never reached the network, and nothing frequent could have been lost.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 rot="5400000">
            <a:off x="822960" y="2990088"/>
            <a:ext cx="420624" cy="365760"/>
          </a:xfrm>
          <a:prstGeom prst="hexagon">
            <a:avLst/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2944368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published number is measured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329184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2,782 candidates re-measured against all 1,616,575 trips; no support is inferred from its parts.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 rot="5400000">
            <a:off x="822960" y="4014216"/>
            <a:ext cx="420624" cy="365760"/>
          </a:xfrm>
          <a:prstGeom prst="hexagon">
            <a:avLst/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3968496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route has to look like a route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4315968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Simple-path and tortuosity guards at every growth step, plus an independent audit of the published file.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 rot="5400000">
            <a:off x="822960" y="5038344"/>
            <a:ext cx="420624" cy="365760"/>
          </a:xfrm>
          <a:prstGeom prst="hexagon">
            <a:avLst/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417320" y="4992624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Empty results are reported, not padded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5340096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configuration has no corridors we show the trip-length ceiling that makes it impossible.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60807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run: 4,798s · 1,380 corridors reported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3 — Methods Comparison</dc:title>
  <dc:subject>PptxGenJS Presentation</dc:subject>
  <dc:creator>Porto Taxi Project</dc:creator>
  <cp:lastModifiedBy>Porto Taxi Project</cp:lastModifiedBy>
  <cp:revision>1</cp:revision>
  <dcterms:created xsi:type="dcterms:W3CDTF">2026-08-30T14:16:25Z</dcterms:created>
  <dcterms:modified xsi:type="dcterms:W3CDTF">2026-08-30T14:16:25Z</dcterms:modified>
</cp:coreProperties>
</file>